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1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1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2.png"/><Relationship Id="rId4" Type="http://schemas.openxmlformats.org/officeDocument/2006/relationships/image" Target="../media/image-6-2.png"/><Relationship Id="rId5" Type="http://schemas.openxmlformats.org/officeDocument/2006/relationships/image" Target="../media/image-6-2.png"/><Relationship Id="rId6" Type="http://schemas.openxmlformats.org/officeDocument/2006/relationships/image" Target="../media/image-6-2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7448" y="411480"/>
            <a:ext cx="2743200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576072"/>
            <a:ext cx="2414016" cy="241401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310128"/>
            <a:ext cx="12188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4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PRESENTATION  ·  2026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0" y="3675888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Emerging Technology Meets Inner Wisdom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1645920" y="4224528"/>
            <a:ext cx="8897112" cy="2286000"/>
          </a:xfrm>
          <a:prstGeom prst="roundRect">
            <a:avLst>
              <a:gd name="adj" fmla="val 5600"/>
            </a:avLst>
          </a:prstGeom>
          <a:solidFill>
            <a:srgbClr val="FFFFFF">
              <a:alpha val="94000"/>
            </a:srgbClr>
          </a:solidFill>
          <a:ln w="15875">
            <a:solidFill>
              <a:srgbClr val="E8A33D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3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965960" y="4224528"/>
            <a:ext cx="320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ID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303520" y="4224528"/>
            <a:ext cx="491947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TSH-PS-__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1965960" y="4796028"/>
            <a:ext cx="8257032" cy="0"/>
          </a:xfrm>
          <a:prstGeom prst="line">
            <a:avLst/>
          </a:prstGeom>
          <a:noFill/>
          <a:ln w="9525">
            <a:solidFill>
              <a:srgbClr val="E4E8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65960" y="4796028"/>
            <a:ext cx="320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TITLE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4796028"/>
            <a:ext cx="491947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the exact PS title here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965960" y="5367528"/>
            <a:ext cx="8257032" cy="0"/>
          </a:xfrm>
          <a:prstGeom prst="line">
            <a:avLst/>
          </a:prstGeom>
          <a:noFill/>
          <a:ln w="9525">
            <a:solidFill>
              <a:srgbClr val="E4E8E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965960" y="5367528"/>
            <a:ext cx="320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/ CATEGORY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5367528"/>
            <a:ext cx="491947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 &amp; Soul Consciousness  ·  Software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965960" y="5939028"/>
            <a:ext cx="8257032" cy="0"/>
          </a:xfrm>
          <a:prstGeom prst="line">
            <a:avLst/>
          </a:prstGeom>
          <a:noFill/>
          <a:ln w="9525">
            <a:solidFill>
              <a:srgbClr val="E4E8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965960" y="5939028"/>
            <a:ext cx="3200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ID / TEAM NAME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303520" y="5939028"/>
            <a:ext cx="4919472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Team ID  ·  Enter Team Name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0" y="653796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Submission PPT Template  —  Sample / Editable Format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132347"/>
          </a:solidFill>
          <a:ln w="12700">
            <a:solidFill>
              <a:srgbClr val="132347"/>
            </a:solidFill>
            <a:prstDash val="solid"/>
          </a:ln>
        </p:spPr>
      </p:sp>
      <p:pic>
        <p:nvPicPr>
          <p:cNvPr id="3" name="Image 0" descr="icons/lotus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562356"/>
            <a:ext cx="265176" cy="2651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70432" y="384048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 Solution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9052560" y="457200"/>
            <a:ext cx="2679192" cy="4572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52560" y="45720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 ·  PS ID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1170432"/>
            <a:ext cx="11274552" cy="0"/>
          </a:xfrm>
          <a:prstGeom prst="line">
            <a:avLst/>
          </a:prstGeom>
          <a:noFill/>
          <a:ln w="12700">
            <a:solidFill>
              <a:srgbClr val="E4E8E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371600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/ Solution Title:  </a:t>
            </a:r>
            <a:pPr indent="0" marL="0">
              <a:buNone/>
            </a:pPr>
            <a:r>
              <a:rPr lang="en-US" sz="15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your idea title here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6309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IDEA / SOLUTION / PROTOTYPE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57200" y="2423160"/>
            <a:ext cx="365760" cy="365760"/>
          </a:xfrm>
          <a:prstGeom prst="ellipse">
            <a:avLst/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2423160"/>
            <a:ext cx="365760" cy="365760"/>
          </a:xfrm>
          <a:prstGeom prst="ellipse">
            <a:avLst/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pic>
        <p:nvPicPr>
          <p:cNvPr id="12" name="Image 1" descr="icons/check_0E7C6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2505456"/>
            <a:ext cx="201168" cy="2011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60120" y="2368296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explanation
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proposed solution clearly and simply.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457200" y="3264408"/>
            <a:ext cx="365760" cy="365760"/>
          </a:xfrm>
          <a:prstGeom prst="ellipse">
            <a:avLst/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7200" y="3264408"/>
            <a:ext cx="365760" cy="365760"/>
          </a:xfrm>
          <a:prstGeom prst="ellipse">
            <a:avLst/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pic>
        <p:nvPicPr>
          <p:cNvPr id="16" name="Image 2" descr="icons/target_0E7C6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3346704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60120" y="3209544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alignment
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it directly addresses the chosen problem statement.</a:t>
            </a:r>
            <a:endParaRPr lang="en-US" sz="1350" dirty="0"/>
          </a:p>
        </p:txBody>
      </p:sp>
      <p:sp>
        <p:nvSpPr>
          <p:cNvPr id="18" name="Shape 13"/>
          <p:cNvSpPr/>
          <p:nvPr/>
        </p:nvSpPr>
        <p:spPr>
          <a:xfrm>
            <a:off x="457200" y="4105656"/>
            <a:ext cx="365760" cy="365760"/>
          </a:xfrm>
          <a:prstGeom prst="ellipse">
            <a:avLst/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57200" y="4105656"/>
            <a:ext cx="365760" cy="365760"/>
          </a:xfrm>
          <a:prstGeom prst="ellipse">
            <a:avLst/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pic>
        <p:nvPicPr>
          <p:cNvPr id="20" name="Image 3" descr="icons/layers_0E7C6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4187952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60120" y="4050792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&amp; uniqueness
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what makes the solution novel and different.</a:t>
            </a:r>
            <a:endParaRPr lang="en-US" sz="1350" dirty="0"/>
          </a:p>
        </p:txBody>
      </p:sp>
      <p:sp>
        <p:nvSpPr>
          <p:cNvPr id="22" name="Shape 16"/>
          <p:cNvSpPr/>
          <p:nvPr/>
        </p:nvSpPr>
        <p:spPr>
          <a:xfrm>
            <a:off x="457200" y="4946904"/>
            <a:ext cx="365760" cy="365760"/>
          </a:xfrm>
          <a:prstGeom prst="ellipse">
            <a:avLst/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57200" y="4946904"/>
            <a:ext cx="365760" cy="365760"/>
          </a:xfrm>
          <a:prstGeom prst="ellipse">
            <a:avLst/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pic>
        <p:nvPicPr>
          <p:cNvPr id="24" name="Image 4" descr="icons/meditation_0E7C6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" y="5029200"/>
            <a:ext cx="201168" cy="20116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60120" y="4892040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techno-spiritual angle
</a:t>
            </a:r>
            <a:endParaRPr lang="en-US" sz="1350" dirty="0"/>
          </a:p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technology used and the wellbeing / mindfulness value it adds.</a:t>
            </a:r>
            <a:endParaRPr lang="en-US" sz="1350" dirty="0"/>
          </a:p>
        </p:txBody>
      </p:sp>
      <p:sp>
        <p:nvSpPr>
          <p:cNvPr id="26" name="Shape 19"/>
          <p:cNvSpPr/>
          <p:nvPr/>
        </p:nvSpPr>
        <p:spPr>
          <a:xfrm>
            <a:off x="7040880" y="1965960"/>
            <a:ext cx="4690872" cy="4160520"/>
          </a:xfrm>
          <a:prstGeom prst="roundRect">
            <a:avLst>
              <a:gd name="adj" fmla="val 2637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7315200" y="2240280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8" name="Image 5" descr="icons/lotus_FFFFF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4928" y="2350008"/>
            <a:ext cx="256032" cy="25603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955280" y="2240280"/>
            <a:ext cx="3502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REFERENCE  ·  TSH-PS-01</a:t>
            </a:r>
            <a:endParaRPr lang="en-US" sz="1000" dirty="0"/>
          </a:p>
        </p:txBody>
      </p:sp>
      <p:sp>
        <p:nvSpPr>
          <p:cNvPr id="30" name="Text 22"/>
          <p:cNvSpPr txBox="1"/>
          <p:nvPr/>
        </p:nvSpPr>
        <p:spPr>
          <a:xfrm>
            <a:off x="7955280" y="2468880"/>
            <a:ext cx="35021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Pseudo Mirror</a:t>
            </a:r>
            <a:endParaRPr lang="en-US" sz="14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(Soul-Conscious AR)</a:t>
            </a:r>
            <a:endParaRPr lang="en-US" sz="1450" dirty="0"/>
          </a:p>
        </p:txBody>
      </p:sp>
      <p:sp>
        <p:nvSpPr>
          <p:cNvPr id="31" name="Shape 23"/>
          <p:cNvSpPr/>
          <p:nvPr/>
        </p:nvSpPr>
        <p:spPr>
          <a:xfrm>
            <a:off x="7315200" y="3136392"/>
            <a:ext cx="4142232" cy="0"/>
          </a:xfrm>
          <a:prstGeom prst="line">
            <a:avLst/>
          </a:prstGeom>
          <a:noFill/>
          <a:ln w="12700">
            <a:solidFill>
              <a:srgbClr val="E4E8ED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7315200" y="3291840"/>
            <a:ext cx="41422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 mirror that reflects a live camera feed through three stages of spiritual identity — from the physical body to the soul as a point of light — using real-time face tracking and a glowing overlay at the Ajna (forehead) point.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7315200" y="5532120"/>
            <a:ext cx="4142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only as inspiration for tone — replace fully with your own idea.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TECHNO-SPIRITUAL HACKATHON 2026</a:t>
            </a:r>
            <a:endParaRPr lang="en-US" sz="900" dirty="0"/>
          </a:p>
        </p:txBody>
      </p:sp>
      <p:sp>
        <p:nvSpPr>
          <p:cNvPr id="35" name="Text 27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132347"/>
          </a:solidFill>
          <a:ln w="12700">
            <a:solidFill>
              <a:srgbClr val="132347"/>
            </a:solidFill>
            <a:prstDash val="solid"/>
          </a:ln>
        </p:spPr>
      </p:sp>
      <p:pic>
        <p:nvPicPr>
          <p:cNvPr id="3" name="Image 0" descr="icons/cpu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562356"/>
            <a:ext cx="265176" cy="2651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70432" y="384048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9052560" y="457200"/>
            <a:ext cx="2679192" cy="4572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52560" y="45720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 ·  PS ID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1170432"/>
            <a:ext cx="11274552" cy="0"/>
          </a:xfrm>
          <a:prstGeom prst="line">
            <a:avLst/>
          </a:prstGeom>
          <a:noFill/>
          <a:ln w="12700">
            <a:solidFill>
              <a:srgbClr val="E4E8E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35331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/ PROCESS FLOW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783080"/>
            <a:ext cx="2542032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8368" y="1984248"/>
            <a:ext cx="457200" cy="457200"/>
          </a:xfrm>
          <a:prstGeom prst="ellipse">
            <a:avLst/>
          </a:prstGeom>
          <a:solidFill>
            <a:srgbClr val="132347"/>
          </a:solidFill>
          <a:ln w="12700">
            <a:solidFill>
              <a:srgbClr val="132347"/>
            </a:solidFill>
            <a:prstDash val="solid"/>
          </a:ln>
        </p:spPr>
      </p:sp>
      <p:pic>
        <p:nvPicPr>
          <p:cNvPr id="11" name="Image 1" descr="icons/code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09397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542032" y="191109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58368" y="253288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Layer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2788920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sensor / user data capture</a:t>
            </a:r>
            <a:endParaRPr lang="en-US" sz="1000" dirty="0"/>
          </a:p>
        </p:txBody>
      </p:sp>
      <p:sp>
        <p:nvSpPr>
          <p:cNvPr id="15" name="Text 11"/>
          <p:cNvSpPr txBox="1"/>
          <p:nvPr/>
        </p:nvSpPr>
        <p:spPr>
          <a:xfrm>
            <a:off x="2999232" y="21945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3255264" y="1783080"/>
            <a:ext cx="2542032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456432" y="1984248"/>
            <a:ext cx="457200" cy="457200"/>
          </a:xfrm>
          <a:prstGeom prst="ellipse">
            <a:avLst/>
          </a:prstGeom>
          <a:solidFill>
            <a:srgbClr val="132347"/>
          </a:solidFill>
          <a:ln w="12700">
            <a:solidFill>
              <a:srgbClr val="132347"/>
            </a:solidFill>
            <a:prstDash val="solid"/>
          </a:ln>
        </p:spPr>
      </p:sp>
      <p:pic>
        <p:nvPicPr>
          <p:cNvPr id="18" name="Image 2" descr="icons/cpu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2093976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340096" y="191109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3456432" y="253288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Engine</a:t>
            </a:r>
            <a:endParaRPr 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3456432" y="2788920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model or core logic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5797296" y="21945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23" name="Shape 18"/>
          <p:cNvSpPr/>
          <p:nvPr/>
        </p:nvSpPr>
        <p:spPr>
          <a:xfrm>
            <a:off x="6053328" y="1783080"/>
            <a:ext cx="2542032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254496" y="1984248"/>
            <a:ext cx="457200" cy="457200"/>
          </a:xfrm>
          <a:prstGeom prst="ellipse">
            <a:avLst/>
          </a:prstGeom>
          <a:solidFill>
            <a:srgbClr val="132347"/>
          </a:solidFill>
          <a:ln w="12700">
            <a:solidFill>
              <a:srgbClr val="132347"/>
            </a:solidFill>
            <a:prstDash val="solid"/>
          </a:ln>
        </p:spPr>
      </p:sp>
      <p:pic>
        <p:nvPicPr>
          <p:cNvPr id="25" name="Image 3" descr="icons/lotus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4224" y="209397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8138160" y="191109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6254496" y="253288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Mindful Mapping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6254496" y="2788920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output to a spiritual / wellness layer</a:t>
            </a:r>
            <a:endParaRPr lang="en-US" sz="1000" dirty="0"/>
          </a:p>
        </p:txBody>
      </p:sp>
      <p:sp>
        <p:nvSpPr>
          <p:cNvPr id="29" name="Text 23"/>
          <p:cNvSpPr txBox="1"/>
          <p:nvPr/>
        </p:nvSpPr>
        <p:spPr>
          <a:xfrm>
            <a:off x="8595360" y="219456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600" dirty="0"/>
          </a:p>
        </p:txBody>
      </p:sp>
      <p:sp>
        <p:nvSpPr>
          <p:cNvPr id="30" name="Shape 24"/>
          <p:cNvSpPr/>
          <p:nvPr/>
        </p:nvSpPr>
        <p:spPr>
          <a:xfrm>
            <a:off x="8851392" y="1783080"/>
            <a:ext cx="2542032" cy="1371600"/>
          </a:xfrm>
          <a:prstGeom prst="roundRect">
            <a:avLst>
              <a:gd name="adj" fmla="val 6667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9052560" y="1984248"/>
            <a:ext cx="457200" cy="457200"/>
          </a:xfrm>
          <a:prstGeom prst="ellipse">
            <a:avLst/>
          </a:prstGeom>
          <a:solidFill>
            <a:srgbClr val="132347"/>
          </a:solidFill>
          <a:ln w="12700">
            <a:solidFill>
              <a:srgbClr val="132347"/>
            </a:solidFill>
            <a:prstDash val="solid"/>
          </a:ln>
        </p:spPr>
      </p:sp>
      <p:pic>
        <p:nvPicPr>
          <p:cNvPr id="32" name="Image 4" descr="icons/globe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2288" y="2093976"/>
            <a:ext cx="237744" cy="237744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0936224" y="191109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4" name="Text 27"/>
          <p:cNvSpPr txBox="1"/>
          <p:nvPr/>
        </p:nvSpPr>
        <p:spPr>
          <a:xfrm>
            <a:off x="9052560" y="2532888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 Output</a:t>
            </a:r>
            <a:endParaRPr lang="en-US" sz="1300" dirty="0"/>
          </a:p>
        </p:txBody>
      </p:sp>
      <p:sp>
        <p:nvSpPr>
          <p:cNvPr id="35" name="Text 28"/>
          <p:cNvSpPr txBox="1"/>
          <p:nvPr/>
        </p:nvSpPr>
        <p:spPr>
          <a:xfrm>
            <a:off x="9052560" y="2788920"/>
            <a:ext cx="21396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via app, AR, or dashboard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" y="3456432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TECHNOLOGIES TO BE USED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457200" y="3822192"/>
            <a:ext cx="5440680" cy="2487168"/>
          </a:xfrm>
          <a:prstGeom prst="roundRect">
            <a:avLst>
              <a:gd name="adj" fmla="val 3676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731520" y="3959352"/>
            <a:ext cx="4892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Languages &amp; frameworks:  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React, Node.js, Python
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ML tools:  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TensorFlow, OpenCV, MediaPipe
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(if any):  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sensors, wearables, IoT board
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b="1" dirty="0">
                <a:solidFill>
                  <a:srgbClr val="0B1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Platform:  </a:t>
            </a:r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Web / Android / iOS</a:t>
            </a:r>
            <a:endParaRPr lang="en-US" sz="1150" dirty="0"/>
          </a:p>
        </p:txBody>
      </p:sp>
      <p:sp>
        <p:nvSpPr>
          <p:cNvPr id="39" name="Text 32"/>
          <p:cNvSpPr txBox="1"/>
          <p:nvPr/>
        </p:nvSpPr>
        <p:spPr>
          <a:xfrm>
            <a:off x="6245352" y="3456432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APPROACH</a:t>
            </a:r>
            <a:endParaRPr lang="en-US" sz="1200" dirty="0"/>
          </a:p>
        </p:txBody>
      </p:sp>
      <p:sp>
        <p:nvSpPr>
          <p:cNvPr id="40" name="Shape 33"/>
          <p:cNvSpPr/>
          <p:nvPr/>
        </p:nvSpPr>
        <p:spPr>
          <a:xfrm>
            <a:off x="6245352" y="3822192"/>
            <a:ext cx="5440680" cy="2487168"/>
          </a:xfrm>
          <a:prstGeom prst="roundRect">
            <a:avLst>
              <a:gd name="adj" fmla="val 3676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6519672" y="4096512"/>
            <a:ext cx="4892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8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simple flow chart, wireframe, or architecture image here</a:t>
            </a:r>
            <a:endParaRPr lang="en-US" sz="1200" dirty="0"/>
          </a:p>
          <a:p>
            <a:pPr marL="177800" indent="-177800">
              <a:lnSpc>
                <a:spcPts val="18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build phases (prototype → test → refine)</a:t>
            </a:r>
            <a:endParaRPr lang="en-US" sz="1200" dirty="0"/>
          </a:p>
          <a:p>
            <a:pPr marL="177800" indent="-177800">
              <a:lnSpc>
                <a:spcPts val="18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any APIs, datasets, or third-party services used</a:t>
            </a:r>
            <a:endParaRPr lang="en-US" sz="1200" dirty="0"/>
          </a:p>
          <a:p>
            <a:pPr marL="177800" indent="-177800">
              <a:lnSpc>
                <a:spcPts val="1800"/>
              </a:lnSpc>
              <a:spcAft>
                <a:spcPts val="1400"/>
              </a:spcAft>
              <a:buSzPct val="100000"/>
              <a:buChar char="•"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Mention how the solution scales beyond the hackathon</a:t>
            </a:r>
            <a:endParaRPr lang="en-US" sz="1200" dirty="0"/>
          </a:p>
        </p:txBody>
      </p:sp>
      <p:sp>
        <p:nvSpPr>
          <p:cNvPr id="42" name="Text 35"/>
          <p:cNvSpPr txBox="1"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TECHNO-SPIRITUAL HACKATHON 2026</a:t>
            </a:r>
            <a:endParaRPr lang="en-US" sz="900" dirty="0"/>
          </a:p>
        </p:txBody>
      </p:sp>
      <p:sp>
        <p:nvSpPr>
          <p:cNvPr id="43" name="Text 36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132347"/>
          </a:solidFill>
          <a:ln w="12700">
            <a:solidFill>
              <a:srgbClr val="132347"/>
            </a:solidFill>
            <a:prstDash val="solid"/>
          </a:ln>
        </p:spPr>
      </p:sp>
      <p:pic>
        <p:nvPicPr>
          <p:cNvPr id="3" name="Image 0" descr="icons/shield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562356"/>
            <a:ext cx="265176" cy="2651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70432" y="384048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&amp; Viability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9052560" y="457200"/>
            <a:ext cx="2679192" cy="4572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52560" y="45720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 ·  PS ID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1170432"/>
            <a:ext cx="11274552" cy="0"/>
          </a:xfrm>
          <a:prstGeom prst="line">
            <a:avLst/>
          </a:prstGeom>
          <a:noFill/>
          <a:ln w="12700">
            <a:solidFill>
              <a:srgbClr val="E4E8E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57200" y="1508760"/>
            <a:ext cx="3611880" cy="4663440"/>
          </a:xfrm>
          <a:prstGeom prst="roundRect">
            <a:avLst>
              <a:gd name="adj" fmla="val 3038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" y="1764792"/>
            <a:ext cx="512064" cy="512064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pic>
        <p:nvPicPr>
          <p:cNvPr id="10" name="Image 1" descr="icons/check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92808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3232" y="2423160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Analysis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713232" y="2880360"/>
            <a:ext cx="3099816" cy="0"/>
          </a:xfrm>
          <a:prstGeom prst="line">
            <a:avLst/>
          </a:prstGeom>
          <a:noFill/>
          <a:ln w="12700">
            <a:solidFill>
              <a:srgbClr val="E4E8E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13232" y="3044952"/>
            <a:ext cx="309981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feasibility with current resources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realistically needed to build a working prototype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of data, tools &amp; skillsets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4288536" y="1508760"/>
            <a:ext cx="3611880" cy="4663440"/>
          </a:xfrm>
          <a:prstGeom prst="roundRect">
            <a:avLst>
              <a:gd name="adj" fmla="val 3038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44568" y="1764792"/>
            <a:ext cx="512064" cy="512064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6" name="Image 2" descr="icons/target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2584" y="1892808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544568" y="2423160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Risks</a:t>
            </a:r>
            <a:endParaRPr lang="en-US" sz="1600" dirty="0"/>
          </a:p>
        </p:txBody>
      </p:sp>
      <p:sp>
        <p:nvSpPr>
          <p:cNvPr id="18" name="Shape 13"/>
          <p:cNvSpPr/>
          <p:nvPr/>
        </p:nvSpPr>
        <p:spPr>
          <a:xfrm>
            <a:off x="4544568" y="2880360"/>
            <a:ext cx="3099816" cy="0"/>
          </a:xfrm>
          <a:prstGeom prst="line">
            <a:avLst/>
          </a:prstGeom>
          <a:noFill/>
          <a:ln w="12700">
            <a:solidFill>
              <a:srgbClr val="E4E8ED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544568" y="3044952"/>
            <a:ext cx="309981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technical or adoption barriers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/ sensitivity considerations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Dependence on external APIs or hardware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119872" y="1508760"/>
            <a:ext cx="3611880" cy="4663440"/>
          </a:xfrm>
          <a:prstGeom prst="roundRect">
            <a:avLst>
              <a:gd name="adj" fmla="val 3038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375904" y="1764792"/>
            <a:ext cx="512064" cy="512064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pic>
        <p:nvPicPr>
          <p:cNvPr id="22" name="Image 3" descr="icons/trending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1892808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375904" y="2423160"/>
            <a:ext cx="3099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Mitigation Strategies</a:t>
            </a:r>
            <a:endParaRPr lang="en-US" sz="1600" dirty="0"/>
          </a:p>
        </p:txBody>
      </p:sp>
      <p:sp>
        <p:nvSpPr>
          <p:cNvPr id="24" name="Shape 18"/>
          <p:cNvSpPr/>
          <p:nvPr/>
        </p:nvSpPr>
        <p:spPr>
          <a:xfrm>
            <a:off x="8375904" y="2880360"/>
            <a:ext cx="3099816" cy="0"/>
          </a:xfrm>
          <a:prstGeom prst="line">
            <a:avLst/>
          </a:prstGeom>
          <a:noFill/>
          <a:ln w="12700">
            <a:solidFill>
              <a:srgbClr val="E4E8ED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375904" y="3044952"/>
            <a:ext cx="3099816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plan for each key risk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rollout to validate assumptions early</a:t>
            </a:r>
            <a:endParaRPr lang="en-US" sz="1150" dirty="0"/>
          </a:p>
          <a:p>
            <a:pPr marL="177800" indent="-177800">
              <a:lnSpc>
                <a:spcPts val="16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Partnerships / mentorship to fill skill gaps</a:t>
            </a:r>
            <a:endParaRPr lang="en-US" sz="1150" dirty="0"/>
          </a:p>
        </p:txBody>
      </p:sp>
      <p:sp>
        <p:nvSpPr>
          <p:cNvPr id="26" name="Text 20"/>
          <p:cNvSpPr txBox="1"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TECHNO-SPIRITUAL HACKATHON 2026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132347"/>
          </a:solidFill>
          <a:ln w="12700">
            <a:solidFill>
              <a:srgbClr val="132347"/>
            </a:solidFill>
            <a:prstDash val="solid"/>
          </a:ln>
        </p:spPr>
      </p:sp>
      <p:pic>
        <p:nvPicPr>
          <p:cNvPr id="3" name="Image 0" descr="icons/heart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562356"/>
            <a:ext cx="265176" cy="2651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70432" y="384048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&amp; Benefits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9052560" y="457200"/>
            <a:ext cx="2679192" cy="4572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52560" y="45720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 ·  PS ID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1170432"/>
            <a:ext cx="11274552" cy="0"/>
          </a:xfrm>
          <a:prstGeom prst="line">
            <a:avLst/>
          </a:prstGeom>
          <a:noFill/>
          <a:ln w="12700">
            <a:solidFill>
              <a:srgbClr val="E4E8E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371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BENEFITS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11274552" cy="868680"/>
          </a:xfrm>
          <a:prstGeom prst="roundRect">
            <a:avLst>
              <a:gd name="adj" fmla="val 10526"/>
            </a:avLst>
          </a:prstGeom>
          <a:solidFill>
            <a:srgbClr val="132347"/>
          </a:solidFill>
          <a:ln w="12700">
            <a:solidFill>
              <a:srgbClr val="1323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16916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audience: 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who directly uses or benefits from this solution (students, seekers, patients, communities, etc.)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2834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OF THE SOLUTION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3182112"/>
            <a:ext cx="2724912" cy="2880360"/>
          </a:xfrm>
          <a:prstGeom prst="roundRect">
            <a:avLst>
              <a:gd name="adj" fmla="val 4027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527048" y="3456432"/>
            <a:ext cx="585216" cy="585216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pic>
        <p:nvPicPr>
          <p:cNvPr id="14" name="Image 1" descr="icons/users_FFFFF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3352" y="3602736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94360" y="4187952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</a:t>
            </a:r>
            <a:endParaRPr lang="en-US" sz="1450" dirty="0"/>
          </a:p>
        </p:txBody>
      </p:sp>
      <p:sp>
        <p:nvSpPr>
          <p:cNvPr id="16" name="Text 12"/>
          <p:cNvSpPr txBox="1"/>
          <p:nvPr/>
        </p:nvSpPr>
        <p:spPr>
          <a:xfrm>
            <a:off x="658368" y="4599432"/>
            <a:ext cx="2322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Strengthens community wellbeing, connection &amp; accessibility.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3355848" y="3182112"/>
            <a:ext cx="2724912" cy="2880360"/>
          </a:xfrm>
          <a:prstGeom prst="roundRect">
            <a:avLst>
              <a:gd name="adj" fmla="val 4027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25696" y="3456432"/>
            <a:ext cx="585216" cy="585216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pic>
        <p:nvPicPr>
          <p:cNvPr id="19" name="Image 2" descr="icons/lotus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602736"/>
            <a:ext cx="292608" cy="29260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493008" y="4187952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Spiritual / Mental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3557016" y="4599432"/>
            <a:ext cx="2322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mindfulness, self-awareness &amp; inner balance.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6254496" y="3182112"/>
            <a:ext cx="2724912" cy="2880360"/>
          </a:xfrm>
          <a:prstGeom prst="roundRect">
            <a:avLst>
              <a:gd name="adj" fmla="val 4027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7324344" y="3456432"/>
            <a:ext cx="585216" cy="585216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pic>
        <p:nvPicPr>
          <p:cNvPr id="24" name="Image 3" descr="icons/trending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0648" y="3602736"/>
            <a:ext cx="292608" cy="29260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391656" y="4187952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Economic</a:t>
            </a:r>
            <a:endParaRPr lang="en-US" sz="1450" dirty="0"/>
          </a:p>
        </p:txBody>
      </p:sp>
      <p:sp>
        <p:nvSpPr>
          <p:cNvPr id="26" name="Text 20"/>
          <p:cNvSpPr txBox="1"/>
          <p:nvPr/>
        </p:nvSpPr>
        <p:spPr>
          <a:xfrm>
            <a:off x="6455664" y="4599432"/>
            <a:ext cx="2322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cost, saves time, or opens new opportunities.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9153144" y="3182112"/>
            <a:ext cx="2724912" cy="2880360"/>
          </a:xfrm>
          <a:prstGeom prst="roundRect">
            <a:avLst>
              <a:gd name="adj" fmla="val 4027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10222992" y="3456432"/>
            <a:ext cx="585216" cy="585216"/>
          </a:xfrm>
          <a:prstGeom prst="ellipse">
            <a:avLst/>
          </a:prstGeom>
          <a:solidFill>
            <a:srgbClr val="0E7C6B"/>
          </a:solidFill>
          <a:ln w="12700">
            <a:solidFill>
              <a:srgbClr val="0E7C6B"/>
            </a:solidFill>
            <a:prstDash val="solid"/>
          </a:ln>
        </p:spPr>
      </p:sp>
      <p:pic>
        <p:nvPicPr>
          <p:cNvPr id="29" name="Image 4" descr="icons/globe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296" y="3602736"/>
            <a:ext cx="292608" cy="29260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290304" y="4187952"/>
            <a:ext cx="2450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Environmental</a:t>
            </a:r>
            <a:endParaRPr lang="en-US" sz="1450" dirty="0"/>
          </a:p>
        </p:txBody>
      </p:sp>
      <p:sp>
        <p:nvSpPr>
          <p:cNvPr id="31" name="Text 24"/>
          <p:cNvSpPr txBox="1"/>
          <p:nvPr/>
        </p:nvSpPr>
        <p:spPr>
          <a:xfrm>
            <a:off x="9354312" y="4599432"/>
            <a:ext cx="2322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Encourages sustainable or resource-conscious behaviour.</a:t>
            </a:r>
            <a:endParaRPr lang="en-US" sz="1050" dirty="0"/>
          </a:p>
        </p:txBody>
      </p:sp>
      <p:sp>
        <p:nvSpPr>
          <p:cNvPr id="32" name="Text 25"/>
          <p:cNvSpPr txBox="1"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TECHNO-SPIRITUAL HACKATHON 2026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566928" cy="566928"/>
          </a:xfrm>
          <a:prstGeom prst="ellipse">
            <a:avLst/>
          </a:prstGeom>
          <a:solidFill>
            <a:srgbClr val="132347"/>
          </a:solidFill>
          <a:ln w="12700">
            <a:solidFill>
              <a:srgbClr val="132347"/>
            </a:solidFill>
            <a:prstDash val="solid"/>
          </a:ln>
        </p:spPr>
      </p:sp>
      <p:pic>
        <p:nvPicPr>
          <p:cNvPr id="3" name="Image 0" descr="icons/book_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" y="562356"/>
            <a:ext cx="265176" cy="2651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70432" y="384048"/>
            <a:ext cx="6949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7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&amp; References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9052560" y="457200"/>
            <a:ext cx="2679192" cy="457200"/>
          </a:xfrm>
          <a:prstGeom prst="roundRect">
            <a:avLst>
              <a:gd name="adj" fmla="val 50000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052560" y="45720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Name  ·  PS ID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1170432"/>
            <a:ext cx="11274552" cy="0"/>
          </a:xfrm>
          <a:prstGeom prst="line">
            <a:avLst/>
          </a:prstGeom>
          <a:noFill/>
          <a:ln w="12700">
            <a:solidFill>
              <a:srgbClr val="E4E8E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13716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E7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DETAILS / LINKS OF REFERENCE &amp; RESEARCH WORK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1810512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03504" y="1938528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E7C6B"/>
            </a:solidFill>
            <a:prstDash val="solid"/>
          </a:ln>
        </p:spPr>
      </p:sp>
      <p:pic>
        <p:nvPicPr>
          <p:cNvPr id="11" name="Image 1" descr="icons/link_0E7C6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" y="2016252"/>
            <a:ext cx="155448" cy="1554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0" y="1810512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 / article title — publisher, year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57200" y="2505456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03504" y="2633472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E7C6B"/>
            </a:solidFill>
            <a:prstDash val="solid"/>
          </a:ln>
        </p:spPr>
      </p:sp>
      <p:pic>
        <p:nvPicPr>
          <p:cNvPr id="15" name="Image 2" descr="icons/link_0E7C6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" y="2711196"/>
            <a:ext cx="155448" cy="1554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0" y="2505456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product or prototype studied for benchmarking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57200" y="3200400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03504" y="3328416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E7C6B"/>
            </a:solidFill>
            <a:prstDash val="solid"/>
          </a:ln>
        </p:spPr>
      </p:sp>
      <p:pic>
        <p:nvPicPr>
          <p:cNvPr id="19" name="Image 3" descr="icons/link_0E7C6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" y="3406140"/>
            <a:ext cx="155448" cy="155448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0" y="320040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Spiritual / traditional text or teaching referenced (if any)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457200" y="3895344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3504" y="4023360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E7C6B"/>
            </a:solidFill>
            <a:prstDash val="solid"/>
          </a:ln>
        </p:spPr>
      </p:sp>
      <p:pic>
        <p:nvPicPr>
          <p:cNvPr id="23" name="Image 4" descr="icons/link_0E7C6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4101084"/>
            <a:ext cx="155448" cy="1554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097280" y="3895344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Dataset(s) or open-source repository used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590288"/>
            <a:ext cx="7635240" cy="566928"/>
          </a:xfrm>
          <a:prstGeom prst="roundRect">
            <a:avLst>
              <a:gd name="adj" fmla="val 12903"/>
            </a:avLst>
          </a:prstGeom>
          <a:solidFill>
            <a:srgbClr val="F5F7FA"/>
          </a:solidFill>
          <a:ln w="12700">
            <a:solidFill>
              <a:srgbClr val="E4E8ED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03504" y="4718304"/>
            <a:ext cx="310896" cy="31089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E7C6B"/>
            </a:solidFill>
            <a:prstDash val="solid"/>
          </a:ln>
        </p:spPr>
      </p:sp>
      <p:pic>
        <p:nvPicPr>
          <p:cNvPr id="27" name="Image 5" descr="icons/link_0E7C6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" y="4796028"/>
            <a:ext cx="155448" cy="155448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97280" y="4590288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expert / mentor consulted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8366760" y="1810512"/>
            <a:ext cx="3364992" cy="4434840"/>
          </a:xfrm>
          <a:prstGeom prst="roundRect">
            <a:avLst>
              <a:gd name="adj" fmla="val 3261"/>
            </a:avLst>
          </a:prstGeom>
          <a:solidFill>
            <a:srgbClr val="132347"/>
          </a:solidFill>
          <a:ln w="12700">
            <a:solidFill>
              <a:srgbClr val="132347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8641080" y="2084832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31" name="Image 6" descr="icons/check_FFFFF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0808" y="2194560"/>
            <a:ext cx="256032" cy="25603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281160" y="208483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CHECKLIST</a:t>
            </a:r>
            <a:endParaRPr lang="en-US" sz="1200" dirty="0"/>
          </a:p>
        </p:txBody>
      </p:sp>
      <p:sp>
        <p:nvSpPr>
          <p:cNvPr id="33" name="Text 24"/>
          <p:cNvSpPr txBox="1"/>
          <p:nvPr/>
        </p:nvSpPr>
        <p:spPr>
          <a:xfrm>
            <a:off x="8659368" y="2770632"/>
            <a:ext cx="281635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deck to a maximum of 6 slides, including the title slide.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points, diagrams &amp; visuals — avoid long paragraphs.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explanations precise, clear and easy to follow.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the idea is original, feasible and genuinely helpful.</a:t>
            </a:r>
            <a:endParaRPr lang="en-US" sz="1100" dirty="0"/>
          </a:p>
          <a:p>
            <a:pPr marL="177800" indent="-177800">
              <a:lnSpc>
                <a:spcPts val="1500"/>
              </a:lnSpc>
              <a:spcAft>
                <a:spcPts val="1200"/>
              </a:spcAft>
              <a:buSzPct val="100000"/>
              <a:buChar char="•"/>
            </a:pPr>
            <a:r>
              <a:rPr lang="en-US" sz="1100" dirty="0">
                <a:solidFill>
                  <a:srgbClr val="E7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the final deck as PDF before uploading to the portal.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TECHNO-SPIRITUAL HACKATHON 2026</a:t>
            </a:r>
            <a:endParaRPr lang="en-US" sz="900" dirty="0"/>
          </a:p>
        </p:txBody>
      </p:sp>
      <p:sp>
        <p:nvSpPr>
          <p:cNvPr id="35" name="Text 26"/>
          <p:cNvSpPr txBox="1"/>
          <p:nvPr/>
        </p:nvSpPr>
        <p:spPr>
          <a:xfrm>
            <a:off x="11274552" y="65288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2026-09-11T18:07:04Z</dcterms:created>
  <dcterms:modified xsi:type="dcterms:W3CDTF">2026-09-11T18:07:04Z</dcterms:modified>
</cp:coreProperties>
</file>