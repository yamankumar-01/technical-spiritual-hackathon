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029200" cy="5029200"/>
          </a:xfrm>
          <a:prstGeom prst="ellipse">
            <a:avLst/>
          </a:prstGeom>
          <a:solidFill>
            <a:srgbClr val="122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sh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920240" y="731520"/>
            <a:ext cx="5486400" cy="347472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NATIONAL TECHNO SPIRITUAL CONCLAVE · JECRC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Outfit"/>
              </a:defRPr>
            </a:pPr>
            <a:r>
              <a:t>Techno Spiritual Hackathon 2026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Official Idea Presentation &amp; Pitch Deck Template — 24-Hour National Conclave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2542032" cy="13716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850" b="1">
                <a:solidFill>
                  <a:srgbClr val="38BDF8"/>
                </a:solidFill>
                <a:latin typeface="Consolas"/>
              </a:defRPr>
            </a:pPr>
            <a:r>
              <a:t>PROBLEM STATEMENT ID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Outfit"/>
              </a:defRPr>
            </a:pPr>
            <a:r>
              <a:t>TSH-PS-__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Enter official 2-digit PS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063240"/>
            <a:ext cx="2542032" cy="13716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850" b="1">
                <a:solidFill>
                  <a:srgbClr val="FBBF24"/>
                </a:solidFill>
                <a:latin typeface="Consolas"/>
              </a:defRPr>
            </a:pPr>
            <a:r>
              <a:t>PROBLEM STATEMENT TITLE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Outfit"/>
              </a:defRPr>
            </a:pPr>
            <a:r>
              <a:t>[Enter PS Title Here]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Align with exact problem 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063240"/>
            <a:ext cx="2542032" cy="13716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850" b="1">
                <a:solidFill>
                  <a:srgbClr val="818CF8"/>
                </a:solidFill>
                <a:latin typeface="Consolas"/>
              </a:defRPr>
            </a:pPr>
            <a:r>
              <a:t>THEME &amp; DOMAIN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Outfit"/>
              </a:defRPr>
            </a:pPr>
            <a:r>
              <a:t>AR &amp; AI / IoT / Wellness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Select from 6 Hackathon Tracks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3063240"/>
            <a:ext cx="2542032" cy="13716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defRPr sz="850" b="1">
                <a:solidFill>
                  <a:srgbClr val="10B981"/>
                </a:solidFill>
                <a:latin typeface="Consolas"/>
              </a:defRPr>
            </a:pPr>
            <a:r>
              <a:t>TEAM CODE &amp; NAME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Outfit"/>
              </a:defRPr>
            </a:pPr>
            <a:r>
              <a:t>Team [Name Here]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  <a:latin typeface="Segoe UI"/>
              </a:defRPr>
            </a:pPr>
            <a:r>
              <a:t>Code: TSH-____ · 4-Member Roster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OFFICIAL TEAM ROSTER (MANDATORY 4 MEMBERS PER TEAM)</a:t>
            </a:r>
          </a:p>
          <a:p>
            <a:pPr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 Leader:  [Full Name] · [Email] · [Phone] · [Branch / Year] · JECRC Foundation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Member 2: [Name · Branch]    |    Member 3: [Name · Branch]    |    Member 4: [Name · Branch]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Techno Spiritual Hackathon 2026 · JECRC Foundation, Jaipur · Official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01 · CORE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Outfit"/>
              </a:defRPr>
            </a:pPr>
            <a:r>
              <a:t>Proposed Solution &amp; Value Proposition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2743200" cy="4114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PS ID: TSH-PS-__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217920" cy="47091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EXECUTIVE SOLUTION OVERVIEW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Outfit"/>
              </a:defRPr>
            </a:pPr>
            <a:r>
              <a:t>Idea Title: [Enter Inspiring &amp; Distinctive Title Here]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Write a crisp 2-3 sentence elevator pitch describing exactly what your application or prototype does, who uses it, and how it delivers conscious transformation.</a:t>
            </a:r>
          </a:p>
          <a:p>
            <a:pPr>
              <a:spcBef>
                <a:spcPts val="1200"/>
              </a:spcBef>
              <a:defRPr sz="1200" b="1">
                <a:solidFill>
                  <a:srgbClr val="FBBF24"/>
                </a:solidFill>
                <a:latin typeface="Outfit"/>
              </a:defRPr>
            </a:pPr>
            <a:r>
              <a:t>1. Detailed Solution Mechanics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• Outline the core functional modules, user journeys, and interfaces.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• Explain how user input transitions into actionable, meaningful digital experiences.</a:t>
            </a:r>
          </a:p>
          <a:p>
            <a:pPr>
              <a:spcBef>
                <a:spcPts val="1000"/>
              </a:spcBef>
              <a:defRPr sz="1200" b="1">
                <a:solidFill>
                  <a:srgbClr val="FBBF24"/>
                </a:solidFill>
                <a:latin typeface="Outfit"/>
              </a:defRPr>
            </a:pPr>
            <a:r>
              <a:t>2. Direct Problem Statement Alignment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• Cite the specific pain points mentioned in your TSH problem statement description.</a:t>
            </a:r>
          </a:p>
          <a:p>
            <a:pPr>
              <a:spcBef>
                <a:spcPts val="200"/>
              </a:spcBef>
              <a:defRPr sz="1000">
                <a:solidFill>
                  <a:srgbClr val="F1F5F9"/>
                </a:solidFill>
                <a:latin typeface="Segoe UI"/>
              </a:defRPr>
            </a:pPr>
            <a:r>
              <a:t>• Validate why this solution is a tailored, complete answer to those specific hurdles.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508760"/>
            <a:ext cx="4327855" cy="22402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INNOVATION &amp; UNIQUENESS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Outfit"/>
              </a:defRPr>
            </a:pPr>
            <a:r>
              <a:t>What Makes This Solution Novel?</a:t>
            </a:r>
          </a:p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Competitive edge: How is this superior to generic commercial alternatives?</a:t>
            </a:r>
            <a:br/>
            <a:r>
              <a:t>• Novel integration of algorithms, hardware sensors, or accessible mobile interfaces.</a:t>
            </a:r>
            <a:br/>
            <a:r>
              <a:t>• Low barrier to entry: Easy for students, campus administration, or citizens.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977639"/>
            <a:ext cx="4327855" cy="22402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950" b="1">
                <a:solidFill>
                  <a:srgbClr val="F59E0B"/>
                </a:solidFill>
                <a:latin typeface="Consolas"/>
              </a:defRPr>
            </a:pPr>
            <a:r>
              <a:t>THE TECHNO-SPIRITUAL SYNTHESIS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Outfit"/>
              </a:defRPr>
            </a:pPr>
            <a:r>
              <a:t>Mindfulness + Futuristic Silicon</a:t>
            </a:r>
          </a:p>
          <a:p>
            <a:pPr>
              <a:spcBef>
                <a:spcPts val="5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Explain how technology is guided by ethical values, calm focus, or mental wellness.</a:t>
            </a:r>
            <a:br/>
            <a:r>
              <a:t>• Bridges modern algorithms (AI, IoT, Cloud) with human healing, peace, or positive habits.</a:t>
            </a:r>
            <a:br/>
            <a:r>
              <a:t>• Fosters inner peace and societal harmony rather than mindless digital addiction.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Techno Spiritual Hackathon 2026 · JECRC Foundation, Jaipur · Official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02 · ARCHITECTURE &amp;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Outfit"/>
              </a:defRPr>
            </a:pPr>
            <a:r>
              <a:t>Technical Approach &amp; Implementation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2743200" cy="4114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PS ID: TSH-PS-__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42032" cy="20574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900" b="1">
                <a:solidFill>
                  <a:srgbClr val="38BDF8"/>
                </a:solidFill>
                <a:latin typeface="Consolas"/>
              </a:defRPr>
            </a:pPr>
            <a:r>
              <a:t>STAGE 01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Outfit"/>
              </a:defRPr>
            </a:pPr>
            <a:r>
              <a:t>Input &amp; Data Capture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Sensors, camera video stream, user audio, biometric input, or telemetry data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08760"/>
            <a:ext cx="2542032" cy="20574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900" b="1">
                <a:solidFill>
                  <a:srgbClr val="818CF8"/>
                </a:solidFill>
                <a:latin typeface="Consolas"/>
              </a:defRPr>
            </a:pPr>
            <a:r>
              <a:t>STAGE 02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Outfit"/>
              </a:defRPr>
            </a:pPr>
            <a:r>
              <a:t>Core AI &amp; Logic Engine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Machine learning inference, prompt chaining, computer vision (OpenCV), or backend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508760"/>
            <a:ext cx="2542032" cy="20574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900" b="1">
                <a:solidFill>
                  <a:srgbClr val="F59E0B"/>
                </a:solidFill>
                <a:latin typeface="Consolas"/>
              </a:defRPr>
            </a:pPr>
            <a:r>
              <a:t>STAGE 03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Outfit"/>
              </a:defRPr>
            </a:pPr>
            <a:r>
              <a:t>Conscious Value Layer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Wellness index mapping, calmness scoring, feedback loop, ethical constraint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08760"/>
            <a:ext cx="2542032" cy="205740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STAGE 04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Outfit"/>
              </a:defRPr>
            </a:pPr>
            <a:r>
              <a:t>Experience &amp; Interface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Interactive web dashboard, mobile app view, AR overlay, or hardware actuator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447288" cy="242316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LANGUAGES &amp; FRAMEWORKS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Frontend / Client: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React / Next.js / Flutter / Tailwind CSS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Backend Services: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Node.js / Express / Python FastAPI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State &amp; Realtime: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WebSockets / REST / Redis 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3794760"/>
            <a:ext cx="3447288" cy="242316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950" b="1">
                <a:solidFill>
                  <a:srgbClr val="818CF8"/>
                </a:solidFill>
                <a:latin typeface="Consolas"/>
              </a:defRPr>
            </a:pPr>
            <a:r>
              <a:t>AI / ML &amp; DATA INFRASTRUCTURE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Machine Learning: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TensorFlow / PyTorch / MediaPipe / OpenCV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NLP / LLM Models: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Open-source Transformers / Llama / Gemini API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Database Layer: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PostgreSQL / SQLite / Vector Store (pgvector)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3794760"/>
            <a:ext cx="3447288" cy="242316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950" b="1">
                <a:solidFill>
                  <a:srgbClr val="F59E0B"/>
                </a:solidFill>
                <a:latin typeface="Consolas"/>
              </a:defRPr>
            </a:pPr>
            <a:r>
              <a:t>HARDWARE, SENSORS &amp; APIS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Sensors &amp; Microcontrollers: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ESP32 / Arduino / Raspberry Pi (if applicable)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External Services: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Speech-to-Text / Geolocation / Cloud Vision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Outfit"/>
              </a:defRPr>
            </a:pPr>
            <a:r>
              <a:t>• Deployment Target: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  Docker / Localhost / Edge Device / Vercel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Techno Spiritual Hackathon 2026 · JECRC Foundation, Jaipur · Official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03 · FEASIBILITY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Outfit"/>
              </a:defRPr>
            </a:pPr>
            <a:r>
              <a:t>Feasibility Analysis, Risks &amp; Mitigation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2743200" cy="4114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PS ID: TSH-PS-__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47288" cy="47091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FEASIBILITY ASSESSMENT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24-Hour Hackathon Sprint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Scope is realistically trimmed to deliver a rock-solid working end-to-end prototype on Day 2.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Data &amp; Asset Readiness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Pre-assembled datasets, mock APIs, and design tokens ensure zero downtime during build hours.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Team Skill Alignment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Clear division of roles across UI/UX frontend, backend models, and presentation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08760"/>
            <a:ext cx="3447288" cy="47091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CHALLENGES &amp; RISKS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Technical &amp; Model Latency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Complex AI/computer vision inference could experience frame drops or API timeouts.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Privacy &amp; Ethical Boundaries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Handling user personal reflections or camera feeds demands strict privacy safeguards.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Dependency &amp; Network Bottlenecks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Fluctuating internet connectivity or third-party cloud service quota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6" y="1508760"/>
            <a:ext cx="3447288" cy="47091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MITIGATION &amp; ROADMAP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Offline / Edge Fallback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Lightweight quantized local models or mock fallback pipelines when network fails.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Local Device Processing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Zero camera storage on cloud; all video frames processed in real-time in browser memory.</a:t>
            </a:r>
          </a:p>
          <a:p>
            <a:pPr>
              <a:spcBef>
                <a:spcPts val="1400"/>
              </a:spcBef>
              <a:defRPr sz="1150" b="1">
                <a:solidFill>
                  <a:srgbClr val="FFFFFF"/>
                </a:solidFill>
                <a:latin typeface="Outfit"/>
              </a:defRPr>
            </a:pPr>
            <a:r>
              <a:t>▸ Phased Delivery Milestones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Milestone 1 (PPT) ➔ Milestone 2 (Working Demo) ➔ Milestone 3 (Refinement).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Techno Spiritual Hackathon 2026 · JECRC Foundation, Jaipur · Official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04 · IMPACT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Outfit"/>
              </a:defRPr>
            </a:pPr>
            <a:r>
              <a:t>Multi-Dimensional Impact &amp; Societal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2743200" cy="4114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PS ID: TSH-PS-__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21945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MENTAL &amp; SPIRITUAL WELLBEING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Direct mindfulness catalyst: Inspires positive pause, self-reflection, and inner calmness.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Reduces academic burnout, screen exhaustion, and compulsive digital dopamine loops.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Helps students develop emotional balance, resilience, and conscious lifestyle habits.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5257800" cy="21945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818CF8"/>
                </a:solidFill>
                <a:latin typeface="Consolas"/>
              </a:defRPr>
            </a:pPr>
            <a:r>
              <a:t>CAMPUS &amp; SOCIAL IMPACT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Strengthens peer camaraderie, mutual respect, and positive institutional culture across JECRC.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Democratizes access: Seamlessly accessible to any student on standard mobile devices.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Generates measurable community engagement, altruistic acts, and campus wellbeing indices.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1945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TECHNICAL &amp; ETHICAL RIGOR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Demonstrates ethical AI: Conscious engineering where technology prioritizes human dignity.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Open, modular architecture ready for student open-source contribution and innovation labs.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Zero toxic monetization, zero intrusive ad-tracking, and zero dark UX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977639"/>
            <a:ext cx="5257800" cy="21945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SCALABILITY &amp; INSTITUTIONAL ADOPTION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Ready for live deployment across JECRC Foundation campuses and hostel ecosystems.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Multi-tenant architecture designed to scale seamlessly across universities nationally.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  <a:latin typeface="Segoe UI"/>
              </a:defRPr>
            </a:pPr>
            <a:r>
              <a:t>• Sustainable footprint: Highly optimized compute consumption and lightweight deployment.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Techno Spiritual Hackathon 2026 · JECRC Foundation, Jaipur · Official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108960" cy="320040"/>
          </a:xfrm>
          <a:prstGeom prst="roundRect">
            <a:avLst/>
          </a:prstGeom>
          <a:solidFill>
            <a:srgbClr val="12204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05 · REFERENCES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Outfit"/>
              </a:defRPr>
            </a:pPr>
            <a:r>
              <a:t>Research References &amp; Submission Compliance 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2743200" cy="411480"/>
          </a:xfrm>
          <a:prstGeom prst="roundRect">
            <a:avLst/>
          </a:prstGeom>
          <a:solidFill>
            <a:srgbClr val="0E193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PS ID: TSH-PS-__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217920" cy="4709160"/>
          </a:xfrm>
          <a:prstGeom prst="roundRect">
            <a:avLst/>
          </a:prstGeom>
          <a:solidFill>
            <a:srgbClr val="0E1934"/>
          </a:solidFill>
          <a:ln w="1524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RESEARCH &amp; BENCHMARKING REPOSITORY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Outfit"/>
              </a:defRPr>
            </a:pPr>
            <a:r>
              <a:t>1. Academic Papers &amp; Publications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e.g., IEEE / ACM publications on Affective Computing, Mindfulness-based Cognitive Therapy, or Computer Vision for emotion regulation (Author, Year).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Outfit"/>
              </a:defRPr>
            </a:pPr>
            <a:r>
              <a:t>2. Benchmarked Platforms &amp; Existing Studies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e.g., Analyzed existing commercial apps (Headspace, Balance, FitBit) and identified key feature gaps addressed by our solution.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Outfit"/>
              </a:defRPr>
            </a:pPr>
            <a:r>
              <a:t>3. Traditional &amp; Spiritual Philosophy References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e.g., Raj Yoga principles, Ashtanga Yoga mindfulness routines, Bhagavad Gita focus teachings, or United Nations SDG Goal 3 (Good Health &amp; Well-being).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  <a:latin typeface="Outfit"/>
              </a:defRPr>
            </a:pPr>
            <a:r>
              <a:t>4. Open-Source Datasets &amp; Libraries Credited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e.g., HuggingFace datasets, OpenCV pre-trained weights, MediaPipe face mesh landmarks, Kaggle student stress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508760"/>
            <a:ext cx="4327855" cy="4709160"/>
          </a:xfrm>
          <a:prstGeom prst="roundRect">
            <a:avLst/>
          </a:prstGeom>
          <a:solidFill>
            <a:srgbClr val="12204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OFFICIAL JURY CHECKLIST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Outfit"/>
              </a:defRPr>
            </a:pPr>
            <a:r>
              <a:t>✔ Problem Fit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Directly addresses one of the 50 TSH problem statements.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Outfit"/>
              </a:defRPr>
            </a:pPr>
            <a:r>
              <a:t>✔ Techno-Spiritual Synthesis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Harmonizes modern technology with conscious wellness.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Outfit"/>
              </a:defRPr>
            </a:pPr>
            <a:r>
              <a:t>✔ Technical Rigor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Clear engineering architecture with functional prototype scope.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Outfit"/>
              </a:defRPr>
            </a:pPr>
            <a:r>
              <a:t>✔ Day 1 Presentation Quality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Precise slides, visual charts, and zero text clutter.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Outfit"/>
              </a:defRPr>
            </a:pPr>
            <a:r>
              <a:t>✔ Strict 6-Slide Limit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Deck adheres strictly to the maximum 6-slide rule.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Outfit"/>
              </a:defRPr>
            </a:pPr>
            <a:r>
              <a:t>✔ Originality &amp; Ethics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No plagiarized code, respectful ethical student approach.</a:t>
            </a:r>
          </a:p>
          <a:p>
            <a:pPr>
              <a:spcBef>
                <a:spcPts val="1200"/>
              </a:spcBef>
              <a:defRPr sz="1000" b="1">
                <a:solidFill>
                  <a:srgbClr val="FBBF24"/>
                </a:solidFill>
                <a:latin typeface="Outfit"/>
              </a:defRPr>
            </a:pPr>
            <a:r>
              <a:t>Project Demo &amp; Source Code:</a:t>
            </a:r>
          </a:p>
          <a:p>
            <a:pPr>
              <a:spcBef>
                <a:spcPts val="200"/>
              </a:spcBef>
              <a:defRPr sz="850">
                <a:solidFill>
                  <a:srgbClr val="38BDF8"/>
                </a:solidFill>
                <a:latin typeface="Consolas"/>
              </a:defRPr>
            </a:pPr>
            <a:r>
              <a:t>GitHub: https://github.com/your-team/tsh-2026-solution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Techno Spiritual Hackathon 2026 · JECRC Foundation, Jaipur · Official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017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38BDF8"/>
                </a:solidFill>
                <a:latin typeface="Consolas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